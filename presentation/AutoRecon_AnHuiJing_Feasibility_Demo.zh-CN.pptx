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AUTORECON · DEMO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30352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500" b="1">
                <a:solidFill>
                  <a:srgbClr val="1B2A26"/>
                </a:solidFill>
                <a:latin typeface="Noto Sans CJK SC"/>
              </a:defRPr>
            </a:pPr>
            <a:r>
              <a:t>什么能跑？</a:t>
            </a:r>
            <a:br/>
            <a:r>
              <a:t>什么必须拒绝？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88920"/>
            <a:ext cx="5394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5B6C66"/>
                </a:solidFill>
                <a:latin typeface="Noto Sans CJK SC"/>
              </a:defRPr>
            </a:pPr>
            <a:r>
              <a:t>31 周 · AnHuiJing · 原始 BTFE → 六步 Pipeline → 可追溯报告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703320"/>
            <a:ext cx="100584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717036"/>
            <a:ext cx="100584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可行性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64792" y="3703320"/>
            <a:ext cx="1143000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3717036"/>
            <a:ext cx="11430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拒绝机制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3703320"/>
            <a:ext cx="114300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3717036"/>
            <a:ext cx="11430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逐句证据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94360"/>
            <a:ext cx="53949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anhuijing_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785812"/>
            <a:ext cx="5394960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ANHUIJING /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可行 Demo：输入已经足够具体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16152"/>
            <a:ext cx="3749039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490472"/>
            <a:ext cx="91440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04188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用户输入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30175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1B2A26"/>
                </a:solidFill>
                <a:latin typeface="Noto Sans CJK SC"/>
              </a:defRPr>
            </a:pPr>
            <a:r>
              <a:t>31 周 AnHuiJing</a:t>
            </a:r>
            <a:br/>
            <a:r>
              <a:t>原始 BTFE NIfTI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07792"/>
            <a:ext cx="306324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ROI：31w atlas warp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Surface：完整生成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六步日志 + QC + 交互图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全部证据 → 中文报告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230368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路径 / GA / atlas / 输出目录均已给出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444752"/>
            <a:ext cx="157276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554480"/>
            <a:ext cx="310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545336"/>
            <a:ext cx="10424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2352" y="1938528"/>
            <a:ext cx="758952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1952244"/>
            <a:ext cx="7589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计划中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0216" y="1901952"/>
            <a:ext cx="548640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22008" y="1444752"/>
            <a:ext cx="157276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31736" y="1554480"/>
            <a:ext cx="310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545336"/>
            <a:ext cx="10424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Reconstruction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938528"/>
            <a:ext cx="758952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952244"/>
            <a:ext cx="7589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计划中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13064" y="1901952"/>
            <a:ext cx="548640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34856" y="1444752"/>
            <a:ext cx="157276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1554480"/>
            <a:ext cx="310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545336"/>
            <a:ext cx="10424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Registration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8" y="1938528"/>
            <a:ext cx="758952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8" y="1952244"/>
            <a:ext cx="7589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计划中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2834640"/>
            <a:ext cx="157276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8888" y="2944368"/>
            <a:ext cx="310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2935224"/>
            <a:ext cx="10424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Tissue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2352" y="3328416"/>
            <a:ext cx="758952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3342132"/>
            <a:ext cx="7589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计划中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0216" y="3291840"/>
            <a:ext cx="548640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922008" y="2834640"/>
            <a:ext cx="157276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1736" y="2944368"/>
            <a:ext cx="310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935224"/>
            <a:ext cx="10424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ROI warp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328416"/>
            <a:ext cx="758952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3342132"/>
            <a:ext cx="7589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计划中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13064" y="3291840"/>
            <a:ext cx="548640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34856" y="2834640"/>
            <a:ext cx="157276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44584" y="2944368"/>
            <a:ext cx="310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048" y="2935224"/>
            <a:ext cx="10424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Surface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3328416"/>
            <a:ext cx="758952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8048" y="3342132"/>
            <a:ext cx="7589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计划中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4407408"/>
            <a:ext cx="5989320" cy="112471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65192" y="4645152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47B6B"/>
                </a:solidFill>
                <a:latin typeface="Noto Sans CJK SC"/>
              </a:defRPr>
            </a:pPr>
            <a:r>
              <a:t>结论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87568" y="4608576"/>
            <a:ext cx="4389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1B2A26"/>
                </a:solidFill>
                <a:latin typeface="Noto Sans CJK SC"/>
              </a:defRPr>
            </a:pPr>
            <a:r>
              <a:t>运行条件齐全；可生成白名单 DAG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PLAN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这份 Plan：主链正确，但有一处自相矛盾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457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147B6B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353312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1B2A26"/>
                </a:solidFill>
                <a:latin typeface="Noto Sans CJK SC"/>
              </a:defRPr>
            </a:pPr>
            <a:r>
              <a:t>依赖关系正确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01952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86000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路径 + GA + atlas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901952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901952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2011680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3D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286000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六步顺序正确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901952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1901952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2" y="2011680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QC /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2286000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随步骤生成证据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901952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901952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2011680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2286000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日志 + 图像 + 指标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33472" y="2295144"/>
            <a:ext cx="475488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02352" y="2295144"/>
            <a:ext cx="475488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71231" y="2295144"/>
            <a:ext cx="475488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3246120"/>
            <a:ext cx="10698480" cy="16002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2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547872"/>
            <a:ext cx="96012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561588"/>
            <a:ext cx="9601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需修正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3493008"/>
            <a:ext cx="49377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1B2A26"/>
                </a:solidFill>
                <a:latin typeface="Noto Sans CJK SC"/>
              </a:defRPr>
            </a:pPr>
            <a:r>
              <a:t>unfulfilled_requests 说“DAG 不生成报告”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5688" y="3968496"/>
            <a:ext cx="6217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3E6DA3"/>
                </a:solidFill>
                <a:latin typeface="Noto Sans CJK SC"/>
              </a:defRPr>
            </a:pPr>
            <a:r>
              <a:t>但执行器会在 Pipeline 后调用 reporter → report.md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21808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BF7E1F"/>
                </a:solidFill>
                <a:latin typeface="Noto Sans CJK SC"/>
              </a:defRPr>
            </a:pPr>
            <a:r>
              <a:t>因此：可运行 ≠ Plan 文本完全正确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LIVE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Demo 展示必须区分：计划、运行中、已完成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anhuijing_extraction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00175"/>
            <a:ext cx="6720840" cy="45605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188720"/>
            <a:ext cx="40233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27264" y="1490472"/>
            <a:ext cx="1051560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7264" y="1504188"/>
            <a:ext cx="10515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当前事实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84248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1B2A26"/>
                </a:solidFill>
                <a:latin typeface="Noto Sans CJK SC"/>
              </a:defRPr>
            </a:pPr>
            <a:r>
              <a:t>agentic_state =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33472"/>
            <a:ext cx="324612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Extraction：已有日志 / QC / 图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Reconstruction：已有日志 / 图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Registration → Surface：尚未完成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最终报告：尚不能宣称六步结论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983480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3E6DA3"/>
                </a:solidFill>
                <a:latin typeface="Noto Sans CJK SC"/>
              </a:defRPr>
            </a:pPr>
            <a:r>
              <a:t>组会措辞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349240"/>
            <a:ext cx="30632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3E6DA3"/>
                </a:solidFill>
                <a:latin typeface="Noto Sans CJK SC"/>
              </a:defRPr>
            </a:pPr>
            <a:r>
              <a:t>“完整链路已启动，非六步已完成”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FAIL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不可行需求：系统应停止，并明确说明缺什么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349300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528" y="1517904"/>
            <a:ext cx="91440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1620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缺 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11680"/>
            <a:ext cx="29260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B2A26"/>
                </a:solidFill>
                <a:latin typeface="Noto Sans CJK SC"/>
              </a:defRPr>
            </a:pPr>
            <a:r>
              <a:t>“做 31w ROI warp”</a:t>
            </a:r>
            <a:br/>
            <a:r>
              <a:t>但 atlas 路径为空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0779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5B6C66"/>
                </a:solidFill>
                <a:latin typeface="Noto Sans CJK SC"/>
              </a:defRPr>
            </a:pPr>
            <a:r>
              <a:t>系统输出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3246120"/>
            <a:ext cx="2999232" cy="1143000"/>
          </a:xfrm>
          <a:prstGeom prst="roundRect">
            <a:avLst/>
          </a:prstGeom>
          <a:solidFill>
            <a:srgbClr val="F6F8F6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410712"/>
            <a:ext cx="26517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B24444"/>
                </a:solidFill>
                <a:latin typeface="Noto Sans CJK SC"/>
              </a:defRPr>
            </a:pPr>
            <a:r>
              <a:t>"missing": [</a:t>
            </a:r>
            <a:br/>
            <a:r>
              <a:t>  "atlas"</a:t>
            </a:r>
            <a:br/>
            <a:r>
              <a:t>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4882896"/>
            <a:ext cx="118872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896612"/>
            <a:ext cx="11887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不启动 GPU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234440"/>
            <a:ext cx="349300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6008" y="1517904"/>
            <a:ext cx="91440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1531620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缺输入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011680"/>
            <a:ext cx="29260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B2A26"/>
                </a:solidFill>
                <a:latin typeface="Noto Sans CJK SC"/>
              </a:defRPr>
            </a:pPr>
            <a:r>
              <a:t>subject_dir 不存在</a:t>
            </a:r>
            <a:br/>
            <a:r>
              <a:t>或无 BTFE_*.nii.gz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90779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5B6C66"/>
                </a:solidFill>
                <a:latin typeface="Noto Sans CJK SC"/>
              </a:defRPr>
            </a:pPr>
            <a:r>
              <a:t>系统输出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3246120"/>
            <a:ext cx="2999232" cy="1143000"/>
          </a:xfrm>
          <a:prstGeom prst="roundRect">
            <a:avLst/>
          </a:prstGeom>
          <a:solidFill>
            <a:srgbClr val="F6F8F6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3410712"/>
            <a:ext cx="26517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B24444"/>
                </a:solidFill>
                <a:latin typeface="Noto Sans CJK SC"/>
              </a:defRPr>
            </a:pPr>
            <a:r>
              <a:t>"missing": [</a:t>
            </a:r>
            <a:br/>
            <a:r>
              <a:t>  "subject_dir / BTFE"</a:t>
            </a:r>
            <a:br/>
            <a:r>
              <a:t>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6008" y="4882896"/>
            <a:ext cx="118872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4896612"/>
            <a:ext cx="11887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不启动 GPU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234440"/>
            <a:ext cx="349300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76488" y="1517904"/>
            <a:ext cx="914400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1531620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依赖矛盾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011680"/>
            <a:ext cx="29260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B2A26"/>
                </a:solidFill>
                <a:latin typeface="Noto Sans CJK SC"/>
              </a:defRPr>
            </a:pPr>
            <a:r>
              <a:t>只跑 surface</a:t>
            </a:r>
            <a:br/>
            <a:r>
              <a:t>不提供 Tissue /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290779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5B6C66"/>
                </a:solidFill>
                <a:latin typeface="Noto Sans CJK SC"/>
              </a:defRPr>
            </a:pPr>
            <a:r>
              <a:t>系统输出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76488" y="3246120"/>
            <a:ext cx="2999232" cy="1143000"/>
          </a:xfrm>
          <a:prstGeom prst="roundRect">
            <a:avLst/>
          </a:prstGeom>
          <a:solidFill>
            <a:srgbClr val="F6F8F6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3410712"/>
            <a:ext cx="26517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BF7E1F"/>
                </a:solidFill>
                <a:latin typeface="Noto Sans CJK SC"/>
              </a:defRPr>
            </a:pPr>
            <a:r>
              <a:t>"warnings": [</a:t>
            </a:r>
            <a:br/>
            <a:r>
              <a:t>  "surface prerequisites"</a:t>
            </a:r>
            <a:br/>
            <a:r>
              <a:t>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6488" y="4882896"/>
            <a:ext cx="118872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8" y="4896612"/>
            <a:ext cx="11887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不启动 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1616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B24444"/>
                </a:solidFill>
                <a:latin typeface="Noto Sans CJK SC"/>
              </a:defRPr>
            </a:pPr>
            <a:r>
              <a:t>原则：无法验证输入或依赖 → status = failed / plan blocked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UNSUPPORTED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另一类不可行：数据能跑，但问题不能回答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4800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36192"/>
            <a:ext cx="86868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9908"/>
            <a:ext cx="8686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用户问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7947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“请判断胎儿脑是否正常，</a:t>
            </a:r>
            <a:br/>
            <a:r>
              <a:t>并给出临床诊断。”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73552"/>
            <a:ext cx="3886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B24444"/>
                </a:solidFill>
                <a:latin typeface="Noto Sans CJK SC"/>
              </a:defRPr>
            </a:pPr>
            <a:r>
              <a:t>即使六步全部 PASS，也不能推出医学正常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32918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无孕周常模曲线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无异常检测器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无专家签署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234440"/>
            <a:ext cx="5852160" cy="4526280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16752" y="1536192"/>
            <a:ext cx="91440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1549908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应输出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084831"/>
            <a:ext cx="480060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"unsupported_reason":</a:t>
            </a:r>
            <a:br/>
            <a:r>
              <a:t>"不能进行独立临床诊断或正常性判断"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342900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仍可提供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858768"/>
            <a:ext cx="429768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技术 QC 结果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可视化与定量结果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明确的人工复核清单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EVIDENCE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“知识库”具体是什么：两类证据，不是一个黑盒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23444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68196"/>
            <a:ext cx="123444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病例证据库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3474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1B2A26"/>
                </a:solidFill>
                <a:latin typeface="Noto Sans CJK SC"/>
              </a:defRPr>
            </a:pPr>
            <a:r>
              <a:t>evidence_bank.json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4069080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原始需求与 Plan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每步 status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metric：值 / 单位 / 阈值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source：具体 NIfTI / CSV / surf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limitations：能说明什么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61872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123444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68196"/>
            <a:ext cx="123444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医学边界库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1B2A26"/>
                </a:solidFill>
                <a:latin typeface="Noto Sans CJK SC"/>
              </a:defRPr>
            </a:pPr>
            <a:r>
              <a:t>medical_evidence.json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51760"/>
            <a:ext cx="4160520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claim_id + statement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evidence + confidence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允许怎样改写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禁止诊断 / 编造标签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缺少常模与专家签署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6188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3E6DA3"/>
                </a:solidFill>
                <a:latin typeface="Noto Sans CJK SC"/>
              </a:defRPr>
            </a:pPr>
            <a:r>
              <a:t>前者回答“本病例发生了什么” · 后者约束“这些事实能被解释到哪一步”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SENTENCE →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报告逐句溯源：一句结论，对应一条证据链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11018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316736"/>
            <a:ext cx="91440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30452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报告句 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98448"/>
            <a:ext cx="4663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本病例包含 6 个 BTFE stacks，GA=31 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1289304"/>
            <a:ext cx="187451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case_context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645920"/>
            <a:ext cx="4343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staging 文件计数 + 请求元数据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340864"/>
            <a:ext cx="11018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2487168"/>
            <a:ext cx="91440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500884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报告句 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68880"/>
            <a:ext cx="4663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Extraction 技术检查通过。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459736"/>
            <a:ext cx="187451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step_qc.extraction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816352"/>
            <a:ext cx="4343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success=1.0；coverage=0.282292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11296"/>
            <a:ext cx="11018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" y="3657600"/>
            <a:ext cx="91440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671316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报告句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639312"/>
            <a:ext cx="4663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Registration 指标达到自动阈值。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630168"/>
            <a:ext cx="187451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step_qc.registration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986784"/>
            <a:ext cx="4343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Mattes=-0.33959；GC=-0.546999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81728"/>
            <a:ext cx="11018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828032"/>
            <a:ext cx="91440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841748"/>
            <a:ext cx="9144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报告句 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809744"/>
            <a:ext cx="4663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Tissue 与 registered MRI 几何一致。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800600"/>
            <a:ext cx="187451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step_qc.tissue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5157216"/>
            <a:ext cx="4343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registered_geometry_match=true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BF7E1F"/>
                </a:solidFill>
                <a:latin typeface="Noto Sans CJK SC"/>
              </a:defRPr>
            </a:pPr>
            <a:r>
              <a:t>注：这些是已完成 AnHuiJing_run02 的真实证据；不能冒充当前 running run 的结果。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BOUNDARY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安全句也要有依据：报告不把 PASS 写成“正常”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10972800" cy="1298448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报告句 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90472"/>
            <a:ext cx="87782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1B2A26"/>
                </a:solidFill>
                <a:latin typeface="Noto Sans CJK SC"/>
              </a:defRPr>
            </a:pPr>
            <a:r>
              <a:t>“该流程支持科研定量和专家复核，不支持独立诊断或正常性判断。”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57400"/>
            <a:ext cx="8412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依据：interpretation_boundary · 缺 GA 常模 / atlas 标签映射 / 异常检测器 / 专家签署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71800"/>
            <a:ext cx="34930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" y="3264408"/>
            <a:ext cx="96012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278124"/>
            <a:ext cx="9601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可运行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858768"/>
            <a:ext cx="28803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输入与依赖齐全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971800"/>
            <a:ext cx="34930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18304" y="3264408"/>
            <a:ext cx="96012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3278124"/>
            <a:ext cx="9601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可复核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858768"/>
            <a:ext cx="28803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每句连到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2971800"/>
            <a:ext cx="34930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31352" y="3264408"/>
            <a:ext cx="960120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3278124"/>
            <a:ext cx="9601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会拒绝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858768"/>
            <a:ext cx="28803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缺输入 / 越界解释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7667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100" b="1">
                <a:solidFill>
                  <a:srgbClr val="1B2A26"/>
                </a:solidFill>
                <a:latin typeface="Noto Sans CJK SC"/>
              </a:defRPr>
            </a:pPr>
            <a:r>
              <a:t>Demo 成功标准：不是“所有卡片变绿”，而是“系统只说证据允许说的话”。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