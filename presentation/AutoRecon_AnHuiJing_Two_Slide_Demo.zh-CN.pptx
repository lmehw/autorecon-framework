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31W · FULL PIPELINE · ATLAS WARP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AnHuiJing：大模型给出的具体计划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15568"/>
            <a:ext cx="288036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371600"/>
            <a:ext cx="1097280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385316"/>
            <a:ext cx="109728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需求 → 字段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74519"/>
            <a:ext cx="2148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“从原始 BTFE 开始”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94560"/>
            <a:ext cx="21488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3E6DA3"/>
                </a:solidFill>
                <a:latin typeface="Noto Sans CJK SC"/>
              </a:defRPr>
            </a:pPr>
            <a:r>
              <a:t>run_pipeline · resume=false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70048"/>
            <a:ext cx="2148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“31 周图谱 atlas warp”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90088"/>
            <a:ext cx="21488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3E6DA3"/>
                </a:solidFill>
                <a:latin typeface="Noto Sans CJK SC"/>
              </a:defRPr>
            </a:pPr>
            <a:r>
              <a:t>GA=31 · atlas=31w · ROI=warp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465576"/>
            <a:ext cx="2148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“完整表面重建”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785615"/>
            <a:ext cx="21488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3E6DA3"/>
                </a:solidFill>
                <a:latin typeface="Noto Sans CJK SC"/>
              </a:defRPr>
            </a:pPr>
            <a:r>
              <a:t>surface=auto · required=true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261104"/>
            <a:ext cx="2148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“六步展示 + 中文报告”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581144"/>
            <a:ext cx="21488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3E6DA3"/>
                </a:solidFill>
                <a:latin typeface="Noto Sans CJK SC"/>
              </a:defRPr>
            </a:pPr>
            <a:r>
              <a:t>display=6 · report=6 · zh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321808"/>
            <a:ext cx="2057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3E6DA3"/>
                </a:solidFill>
                <a:latin typeface="Noto Sans CJK SC"/>
              </a:defRPr>
            </a:pPr>
            <a:r>
              <a:t>planner_source = llm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75887" y="1298448"/>
            <a:ext cx="1664208" cy="804672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147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1426464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79" y="1417320"/>
            <a:ext cx="11155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Extraction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79" y="1746504"/>
            <a:ext cx="640080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79" y="1760220"/>
            <a:ext cx="64008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完成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58383" y="1691640"/>
            <a:ext cx="256032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669279" y="1298448"/>
            <a:ext cx="1664208" cy="804672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147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79007" y="1426464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62471" y="1417320"/>
            <a:ext cx="11155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Reconstruction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62471" y="1746504"/>
            <a:ext cx="640080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62471" y="1760220"/>
            <a:ext cx="64008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完成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51775" y="1691640"/>
            <a:ext cx="256032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662671" y="1298448"/>
            <a:ext cx="1664208" cy="804672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147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399" y="1426464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55863" y="1417320"/>
            <a:ext cx="11155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Registration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55863" y="1746504"/>
            <a:ext cx="640080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5863" y="1760220"/>
            <a:ext cx="64008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完成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75887" y="2468880"/>
            <a:ext cx="1664208" cy="804672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147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85615" y="2596896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9079" y="2587752"/>
            <a:ext cx="11155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Tissue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69079" y="2916936"/>
            <a:ext cx="640080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69079" y="2930652"/>
            <a:ext cx="64008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完成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358383" y="2862072"/>
            <a:ext cx="256032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669279" y="2468880"/>
            <a:ext cx="1664208" cy="804672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147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79007" y="2596896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62471" y="2587752"/>
            <a:ext cx="11155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ROI warp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62471" y="2916936"/>
            <a:ext cx="640080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62471" y="2930652"/>
            <a:ext cx="64008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完成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351775" y="2862072"/>
            <a:ext cx="256032" cy="0"/>
          </a:xfrm>
          <a:prstGeom prst="line">
            <a:avLst/>
          </a:prstGeom>
          <a:ln w="25400">
            <a:solidFill>
              <a:srgbClr val="147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662671" y="2468880"/>
            <a:ext cx="1664208" cy="804672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147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399" y="2596896"/>
            <a:ext cx="274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55863" y="2587752"/>
            <a:ext cx="11155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Surface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55863" y="2916936"/>
            <a:ext cx="640080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55863" y="2930652"/>
            <a:ext cx="64008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完成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94176" y="3685032"/>
            <a:ext cx="5715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3E6DA3"/>
                </a:solidFill>
                <a:latin typeface="Noto Sans CJK SC"/>
              </a:defRPr>
            </a:pPr>
            <a:r>
              <a:t>依赖：Registration → Tissue / ROI → Surface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848088" y="1115568"/>
            <a:ext cx="182880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0085832" y="1371600"/>
            <a:ext cx="987552" cy="310896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F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85832" y="1385316"/>
            <a:ext cx="987552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B24444"/>
                </a:solidFill>
                <a:latin typeface="Noto Sans CJK SC"/>
              </a:defRPr>
            </a:pPr>
            <a:r>
              <a:t>假设反例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76688" y="1709928"/>
            <a:ext cx="13258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1">
                <a:solidFill>
                  <a:srgbClr val="5B6C66"/>
                </a:solidFill>
                <a:latin typeface="Noto Sans CJK SC"/>
              </a:defRPr>
            </a:pPr>
            <a:r>
              <a:t>非本次病例问题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76688" y="2057400"/>
            <a:ext cx="1325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输入 / 依赖缺失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76688" y="2414016"/>
            <a:ext cx="1353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B24444"/>
                </a:solidFill>
                <a:latin typeface="Noto Sans CJK SC"/>
              </a:defRPr>
            </a:pPr>
            <a:r>
              <a:t>缺 atlas · 无 BTFE</a:t>
            </a:r>
            <a:br/>
            <a:r>
              <a:t>缺 Surface 上游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76688" y="3072384"/>
            <a:ext cx="13533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B24444"/>
                </a:solidFill>
                <a:latin typeface="Noto Sans CJK SC"/>
              </a:defRPr>
            </a:pPr>
            <a:r>
              <a:t>停止 · 不启动 GPU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76688" y="3410712"/>
            <a:ext cx="13533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3E6DA3"/>
                </a:solidFill>
                <a:latin typeface="Noto Sans CJK SC"/>
              </a:defRPr>
            </a:pPr>
            <a:r>
              <a:t>生成提示报告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76688" y="4005072"/>
            <a:ext cx="1325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B2A26"/>
                </a:solidFill>
                <a:latin typeface="Noto Sans CJK SC"/>
              </a:defRPr>
            </a:pPr>
            <a:r>
              <a:t>医学解释越界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76688" y="4361688"/>
            <a:ext cx="13533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B24444"/>
                </a:solidFill>
                <a:latin typeface="Noto Sans CJK SC"/>
              </a:defRPr>
            </a:pPr>
            <a:r>
              <a:t>例如：要求诊断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76688" y="4773168"/>
            <a:ext cx="13533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继续技术处理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76688" y="5084064"/>
            <a:ext cx="1353312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1">
                <a:solidFill>
                  <a:srgbClr val="3E6DA3"/>
                </a:solidFill>
                <a:latin typeface="Noto Sans CJK SC"/>
              </a:defRPr>
            </a:pPr>
            <a:r>
              <a:t>报告：无法判断</a:t>
            </a:r>
            <a:br/>
            <a:r>
              <a:t>正常 / 异常、百分位、Z 分数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76688" y="5596128"/>
            <a:ext cx="13533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00" b="1">
                <a:solidFill>
                  <a:srgbClr val="5B6C66"/>
                </a:solidFill>
                <a:latin typeface="Noto Sans CJK SC"/>
              </a:defRPr>
            </a:pPr>
            <a:r>
              <a:t>缺 GA 常模与专家签署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03320" y="4617720"/>
            <a:ext cx="56692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900" b="1">
                <a:solidFill>
                  <a:srgbClr val="147B6B"/>
                </a:solidFill>
                <a:latin typeface="Noto Sans CJK SC"/>
              </a:defRPr>
            </a:pPr>
            <a:r>
              <a:t>本病例：输入完整 · 六步完成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AutoRecon · Agentic fetal MRI research workflow · 2026-07-21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REPORT SENTENCE → METRIC →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B2A26"/>
                </a:solidFill>
                <a:latin typeface="Noto Sans CJK SC"/>
              </a:defRPr>
            </a:pPr>
            <a:r>
              <a:t>AnHuiJing：Evidence Bank 具体保存什么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C66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27889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353312"/>
            <a:ext cx="960120" cy="310896"/>
          </a:xfrm>
          <a:prstGeom prst="roundRect">
            <a:avLst/>
          </a:prstGeom>
          <a:solidFill>
            <a:srgbClr val="E2F3EE"/>
          </a:solidFill>
          <a:ln w="12700">
            <a:solidFill>
              <a:srgbClr val="E2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367028"/>
            <a:ext cx="96012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47B6B"/>
                </a:solidFill>
                <a:latin typeface="Noto Sans CJK SC"/>
              </a:defRPr>
            </a:pPr>
            <a:r>
              <a:t>文件内容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01952"/>
            <a:ext cx="214884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B2A26"/>
                </a:solidFill>
                <a:latin typeface="Noto Sans CJK SC"/>
              </a:defRPr>
            </a:pPr>
            <a:r>
              <a:t>•  case_context</a:t>
            </a:r>
          </a:p>
          <a:p>
            <a:pPr>
              <a:spcAft>
                <a:spcPts val="800"/>
              </a:spcAft>
              <a:defRPr sz="1100">
                <a:solidFill>
                  <a:srgbClr val="1B2A26"/>
                </a:solidFill>
                <a:latin typeface="Noto Sans CJK SC"/>
              </a:defRPr>
            </a:pPr>
            <a:r>
              <a:t>•  core_images_readable</a:t>
            </a:r>
          </a:p>
          <a:p>
            <a:pPr>
              <a:spcAft>
                <a:spcPts val="800"/>
              </a:spcAft>
              <a:defRPr sz="1100">
                <a:solidFill>
                  <a:srgbClr val="1B2A26"/>
                </a:solidFill>
                <a:latin typeface="Noto Sans CJK SC"/>
              </a:defRPr>
            </a:pPr>
            <a:r>
              <a:t>•  interpretation_boundary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675887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47B6B"/>
                </a:solidFill>
                <a:latin typeface="Noto Sans CJK SC"/>
              </a:defRPr>
            </a:pPr>
            <a:r>
              <a:t>每条 claim 都包含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069080"/>
            <a:ext cx="164592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1B2A26"/>
                </a:solidFill>
                <a:latin typeface="Noto Sans CJK SC"/>
              </a:defRPr>
            </a:pPr>
            <a:r>
              <a:t>statement</a:t>
            </a:r>
            <a:br/>
            <a:r>
              <a:t>evidence</a:t>
            </a:r>
            <a:br/>
            <a:r>
              <a:t>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285232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3E6DA3"/>
                </a:solidFill>
                <a:latin typeface="Noto Sans CJK SC"/>
              </a:defRPr>
            </a:pPr>
            <a:r>
              <a:t>medical_evidence.json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1188720"/>
            <a:ext cx="5577840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30752" y="1335024"/>
            <a:ext cx="1737360" cy="310896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1348740"/>
            <a:ext cx="173736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3E6DA3"/>
                </a:solidFill>
                <a:latin typeface="Noto Sans CJK SC"/>
              </a:defRPr>
            </a:pPr>
            <a:r>
              <a:t>case_context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1362456"/>
            <a:ext cx="1325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5B6C66"/>
                </a:solidFill>
                <a:latin typeface="Noto Sans CJK SC"/>
              </a:defRPr>
            </a:pPr>
            <a:r>
              <a:t>谁？什么数据？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1709927"/>
            <a:ext cx="3246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B2A26"/>
                </a:solidFill>
                <a:latin typeface="Noto Sans CJK SC"/>
              </a:defRPr>
            </a:pPr>
            <a:r>
              <a:t>31 周 · 6 个 BTFE stacks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682496"/>
            <a:ext cx="17830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dashboard 元数据 + staging 文件计数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0752" y="2084832"/>
            <a:ext cx="15544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confidence = high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2606040"/>
            <a:ext cx="5577840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730752" y="2752344"/>
            <a:ext cx="1737360" cy="310896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30752" y="2766060"/>
            <a:ext cx="173736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3E6DA3"/>
                </a:solidFill>
                <a:latin typeface="Noto Sans CJK SC"/>
              </a:defRPr>
            </a:pPr>
            <a:r>
              <a:t>core_images_readable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2779776"/>
            <a:ext cx="1325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5B6C66"/>
                </a:solidFill>
                <a:latin typeface="Noto Sans CJK SC"/>
              </a:defRPr>
            </a:pPr>
            <a:r>
              <a:t>核心输出是否有效？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752" y="3127247"/>
            <a:ext cx="3246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B2A26"/>
                </a:solidFill>
                <a:latin typeface="Noto Sans CJK SC"/>
              </a:defRPr>
            </a:pPr>
            <a:r>
              <a:t>重建 / Tissue / ROI 输出可读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099816"/>
            <a:ext cx="17830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(197×193×384) · (135×189×155)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0752" y="3502152"/>
            <a:ext cx="15544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confidence = high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47872" y="4023360"/>
            <a:ext cx="5577840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730752" y="4169664"/>
            <a:ext cx="1737360" cy="310896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0752" y="4183380"/>
            <a:ext cx="173736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3E6DA3"/>
                </a:solidFill>
                <a:latin typeface="Noto Sans CJK SC"/>
              </a:defRPr>
            </a:pPr>
            <a:r>
              <a:t>interpretation_boundary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4197096"/>
            <a:ext cx="1325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5B6C66"/>
                </a:solidFill>
                <a:latin typeface="Noto Sans CJK SC"/>
              </a:defRPr>
            </a:pPr>
            <a:r>
              <a:t>最多能解释到哪？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0752" y="4544567"/>
            <a:ext cx="3246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B2A26"/>
                </a:solidFill>
                <a:latin typeface="Noto Sans CJK SC"/>
              </a:defRPr>
            </a:pPr>
            <a:r>
              <a:t>用于科研定量与专家复核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4517136"/>
            <a:ext cx="17830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47B6B"/>
                </a:solidFill>
                <a:latin typeface="Noto Sans CJK SC"/>
              </a:defRPr>
            </a:pPr>
            <a:r>
              <a:t>缺 GA 常模 / 标签映射 / 异常检测器 / 专家签署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0752" y="4919472"/>
            <a:ext cx="15544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C66"/>
                </a:solidFill>
                <a:latin typeface="Noto Sans CJK SC"/>
              </a:defRPr>
            </a:pPr>
            <a:r>
              <a:t>confidence = high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00032" y="1097280"/>
            <a:ext cx="2267712" cy="4983480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3E6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656064" y="1353312"/>
            <a:ext cx="987552" cy="310896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56064" y="1367028"/>
            <a:ext cx="987552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3E6DA3"/>
                </a:solidFill>
                <a:latin typeface="Noto Sans CJK SC"/>
              </a:defRPr>
            </a:pPr>
            <a:r>
              <a:t>解释边界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1993392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147B6B"/>
                </a:solidFill>
                <a:latin typeface="Noto Sans CJK SC"/>
              </a:defRPr>
            </a:pPr>
            <a:r>
              <a:t>技术 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56064" y="2487168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B24444"/>
                </a:solidFill>
                <a:latin typeface="Noto Sans CJK SC"/>
              </a:defRPr>
            </a:pPr>
            <a:r>
              <a:t>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56064" y="2907792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B24444"/>
                </a:solidFill>
                <a:latin typeface="Noto Sans CJK SC"/>
              </a:defRPr>
            </a:pPr>
            <a:r>
              <a:t>医学正常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56064" y="3675887"/>
            <a:ext cx="640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3E6DA3"/>
                </a:solidFill>
                <a:latin typeface="Noto Sans CJK SC"/>
              </a:defRPr>
            </a:pPr>
            <a:r>
              <a:t>依据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56064" y="3749039"/>
            <a:ext cx="1627632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B2A26"/>
                </a:solidFill>
                <a:latin typeface="Noto Sans CJK SC"/>
              </a:defRPr>
            </a:pPr>
            <a:r>
              <a:t>LLM 只允许：</a:t>
            </a:r>
            <a:br/>
            <a:r>
              <a:t>改写有证据的句子</a:t>
            </a:r>
            <a:br/>
            <a:r>
              <a:t>总结已有局限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56064" y="4736592"/>
            <a:ext cx="1627632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B24444"/>
                </a:solidFill>
                <a:latin typeface="Noto Sans CJK SC"/>
              </a:defRPr>
            </a:pPr>
            <a:r>
              <a:t>禁止：</a:t>
            </a:r>
            <a:br/>
            <a:r>
              <a:t>诊断 · 正常性 · 编造标签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5760720"/>
            <a:ext cx="54864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B6C66"/>
                </a:solidFill>
                <a:latin typeface="Noto Sans CJK SC"/>
              </a:defRPr>
            </a:pPr>
            <a:r>
              <a:t>最终证据目录：2026-07-21T144658Z0000_a58cb578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