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AUTORECON / AGENTIC MRI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594360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400" b="1">
                <a:solidFill>
                  <a:srgbClr val="1B2A26"/>
                </a:solidFill>
                <a:latin typeface="Noto Sans CJK SC"/>
              </a:defRPr>
            </a:pPr>
            <a:r>
              <a:t>从自然语言需求到</a:t>
            </a:r>
            <a:br/>
            <a:r>
              <a:t>可追溯研究报告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51760"/>
            <a:ext cx="58521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5B6C66"/>
                </a:solidFill>
                <a:latin typeface="Noto Sans CJK SC"/>
              </a:defRPr>
            </a:pPr>
            <a:r>
              <a:t>大模型理解需求 · 六步质量检查 · 证据库 · 用户视角可视化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410712"/>
            <a:ext cx="141732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24428"/>
            <a:ext cx="14173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工程闭环已验收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9696" y="3410712"/>
            <a:ext cx="1353312" cy="310896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3424428"/>
            <a:ext cx="135331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F7E1F"/>
                </a:solidFill>
                <a:latin typeface="Noto Sans CJK SC"/>
              </a:defRPr>
            </a:pPr>
            <a:r>
              <a:t>研究决策支持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594360"/>
            <a:ext cx="498348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caoli_registration_m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23876"/>
            <a:ext cx="4983480" cy="33816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888736"/>
            <a:ext cx="3200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B6C66"/>
                </a:solidFill>
                <a:latin typeface="Noto Sans CJK SC"/>
              </a:defRPr>
            </a:pPr>
            <a:r>
              <a:t>组会报告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EXECUTIVE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目标、边界与验收结论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930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490472"/>
            <a:ext cx="713232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04188"/>
            <a:ext cx="71323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31546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B2A26"/>
                </a:solidFill>
                <a:latin typeface="Noto Sans CJK SC"/>
              </a:defRPr>
            </a:pPr>
            <a:r>
              <a:t>用户说出需求 → 系统整理任务 → 按正确顺序运行 → 给出结果和报告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25880"/>
            <a:ext cx="34930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490472"/>
            <a:ext cx="713232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04188"/>
            <a:ext cx="71323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01952"/>
            <a:ext cx="31546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B2A26"/>
                </a:solidFill>
                <a:latin typeface="Noto Sans CJK SC"/>
              </a:defRPr>
            </a:pPr>
            <a:r>
              <a:t>理解需求、确认计划、运行工具、逐步质检、保存证据、生成报告均已连通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325880"/>
            <a:ext cx="34930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85048" y="1490472"/>
            <a:ext cx="713232" cy="310896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504188"/>
            <a:ext cx="71323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F7E1F"/>
                </a:solidFill>
                <a:latin typeface="Noto Sans CJK SC"/>
              </a:defRPr>
            </a:pPr>
            <a:r>
              <a:t>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01952"/>
            <a:ext cx="31546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B2A26"/>
                </a:solidFill>
                <a:latin typeface="Noto Sans CJK SC"/>
              </a:defRPr>
            </a:pPr>
            <a:r>
              <a:t>专业研究型报告，不在缺少常模与专家签署时做临床诊断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10789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1B2A26"/>
                </a:solidFill>
                <a:latin typeface="Noto Sans CJK SC"/>
              </a:defRPr>
            </a:pPr>
            <a:r>
              <a:t>完成度不是由单个绿色测试证明，而由需求级证据共同证明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85032"/>
            <a:ext cx="1078992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自动化测试覆盖：三种范围互不干扰、拒绝未知工具、接口备用方案、密钥保护、六步质检。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3 个真实既有 run 的演示：全通过、配准需复核、下游空间错误被发现。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每份报告都保存原始需求、执行计划、每步质检来源、结论依据和能力限制。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外部 LLM 不接收本次受试者衍生证据；样例采用本地确定性隐私模式。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用户流程：一句需求如何变成可以检查的结果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6276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18488"/>
            <a:ext cx="1399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01 用户需求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92808"/>
            <a:ext cx="13990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自由中文 / 英文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8840" y="1901952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32304" y="1508760"/>
            <a:ext cx="16276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32304" y="1508760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1618488"/>
            <a:ext cx="1399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02 需求整理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1892808"/>
            <a:ext cx="13990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拆出参数和三种范围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78224" y="1901952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61688" y="1508760"/>
            <a:ext cx="16276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1508760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618488"/>
            <a:ext cx="1399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03 执行计划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892808"/>
            <a:ext cx="13990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按依赖顺序排列任务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07608" y="1901952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91072" y="1508760"/>
            <a:ext cx="16276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1508760"/>
            <a:ext cx="73152" cy="786384"/>
          </a:xfrm>
          <a:prstGeom prst="rect">
            <a:avLst/>
          </a:prstGeom>
          <a:solidFill>
            <a:srgbClr val="3E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618488"/>
            <a:ext cx="1399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04 开始运行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1892808"/>
            <a:ext cx="13990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用户确认后后台执行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36992" y="1901952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0456" y="1508760"/>
            <a:ext cx="16276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0456" y="1508760"/>
            <a:ext cx="73152" cy="786384"/>
          </a:xfrm>
          <a:prstGeom prst="rect">
            <a:avLst/>
          </a:prstGeom>
          <a:solidFill>
            <a:srgbClr val="3E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1618488"/>
            <a:ext cx="1399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05 质量检查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1892808"/>
            <a:ext cx="13990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每步指标与来源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66376" y="1901952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149840" y="1508760"/>
            <a:ext cx="16276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9840" y="1508760"/>
            <a:ext cx="73152" cy="786384"/>
          </a:xfrm>
          <a:prstGeom prst="rect">
            <a:avLst/>
          </a:prstGeom>
          <a:solidFill>
            <a:srgbClr val="3E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14432" y="1618488"/>
            <a:ext cx="1399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06 最终报告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4432" y="1892808"/>
            <a:ext cx="13990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只根据已有证据总结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2"/>
            <a:ext cx="109728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063240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47B6B"/>
                </a:solidFill>
                <a:latin typeface="Noto Sans CJK SC"/>
              </a:defRPr>
            </a:pPr>
            <a:r>
              <a:t>关键行为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493008"/>
            <a:ext cx="1033272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点击“生成计划”后会显示处理中；计划完成后仍需用户点击“运行”。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运行哪些步骤、页面展示哪些步骤、报告引用哪些步骤，三者互不干扰。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模型只能选择系统已有工具；工具不存在、顺序矛盾、路径虚构或参数缺失时不会运行。</a:t>
            </a:r>
          </a:p>
          <a:p>
            <a:pPr>
              <a:spcAft>
                <a:spcPts val="800"/>
              </a:spcAft>
              <a:defRPr sz="1500">
                <a:solidFill>
                  <a:srgbClr val="1B2A26"/>
                </a:solidFill>
                <a:latin typeface="Noto Sans CJK SC"/>
              </a:defRPr>
            </a:pPr>
            <a:r>
              <a:t>•  页面持续更新状态，并保留当前图像窗口；每一步显示短日志和质量指标。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处理流程：六个步骤如何前后衔接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6276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81912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47B6B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572768"/>
            <a:ext cx="1143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脑提取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1874519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417320"/>
            <a:ext cx="16276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581912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47B6B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572768"/>
            <a:ext cx="1143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三维重建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1874519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1417320"/>
            <a:ext cx="1627632" cy="914400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14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581912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47B6B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1572768"/>
            <a:ext cx="1143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图像配准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1874519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1417320"/>
            <a:ext cx="16276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581912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47B6B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1572768"/>
            <a:ext cx="1143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组织分割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09560" y="1874519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83880" y="1417320"/>
            <a:ext cx="16276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581912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47B6B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1572768"/>
            <a:ext cx="1143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脑区分区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29800" y="1874519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04120" y="1417320"/>
            <a:ext cx="16276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3848" y="1581912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47B6B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1572768"/>
            <a:ext cx="1143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表面生成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2743200"/>
            <a:ext cx="107442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017520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147B6B"/>
                </a:solidFill>
                <a:latin typeface="Noto Sans CJK SC"/>
              </a:defRPr>
            </a:pPr>
            <a:r>
              <a:t>第 3 步生成统一的配准空间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493008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B2A26"/>
                </a:solidFill>
                <a:latin typeface="Noto Sans CJK SC"/>
              </a:defRPr>
            </a:pPr>
            <a:r>
              <a:t>outputs/registered_input/&lt;subject&gt;.nii.gz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0" y="3657600"/>
            <a:ext cx="1371600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37960" y="3246120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1B2A26"/>
                </a:solidFill>
                <a:latin typeface="Noto Sans CJK SC"/>
              </a:defRPr>
            </a:pPr>
            <a:r>
              <a:t>Tissue + ROI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61188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5B6C66"/>
                </a:solidFill>
                <a:latin typeface="Noto Sans CJK SC"/>
              </a:defRPr>
            </a:pPr>
            <a:r>
              <a:t>图像尺寸、方向和位置必须一致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26880" y="3657600"/>
            <a:ext cx="731520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195560" y="324612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1B2A26"/>
                </a:solidFill>
                <a:latin typeface="Noto Sans CJK SC"/>
              </a:defRPr>
            </a:pPr>
            <a:r>
              <a:t>Surface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361188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5B6C66"/>
                </a:solidFill>
                <a:latin typeface="Noto Sans CJK SC"/>
              </a:defRPr>
            </a:pPr>
            <a:r>
              <a:t>依赖两者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370832"/>
            <a:ext cx="9875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5B6C66"/>
                </a:solidFill>
                <a:latin typeface="Noto Sans CJK SC"/>
              </a:defRPr>
            </a:pPr>
            <a:r>
              <a:t>系统从任务顺序、实际输入路径和图像空间检查三方面保证后续步骤使用配准结果。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LLM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大模型框架：先听懂需求，再安排任务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7432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2514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第一阶段 · 听懂需求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自然语言 → 结构化需求单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371600"/>
            <a:ext cx="27432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371600"/>
            <a:ext cx="73152" cy="786384"/>
          </a:xfrm>
          <a:prstGeom prst="rect">
            <a:avLst/>
          </a:prstGeom>
          <a:solidFill>
            <a:srgbClr val="3E6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481328"/>
            <a:ext cx="2514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第二阶段 · 安排任务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755648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需求单 + 可用工具 → 执行顺序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71600"/>
            <a:ext cx="27432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371600"/>
            <a:ext cx="73152" cy="786384"/>
          </a:xfrm>
          <a:prstGeom prst="rect">
            <a:avLst/>
          </a:prstGeom>
          <a:solidFill>
            <a:srgbClr val="BF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481328"/>
            <a:ext cx="2514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本地自动检查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755648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格式 / 顺序 / 路径 / 环境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64992" y="1764792"/>
            <a:ext cx="1298448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79792" y="1764792"/>
            <a:ext cx="1298448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4360" y="260604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834640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结构化需求单保存什么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246120"/>
            <a:ext cx="3063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用户原话和目标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受试者、目录、孕周、图谱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运行 / 展示 / 报告范围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限制、缺失信息、无法满足项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60604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834640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任务安排有什么限制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246120"/>
            <a:ext cx="3063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只能选择系统已有工具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写清每一步的前置步骤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只使用检查过的本地路径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计划错误时只让模型修正一次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60604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834640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接口不可用怎么办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3246120"/>
            <a:ext cx="3063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兼容两类常见大模型接口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系统自动尝试可用接口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记住成功的接口类型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仍失败时使用安全备用规则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49240"/>
            <a:ext cx="10789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B24444"/>
                </a:solidFill>
                <a:latin typeface="Noto Sans CJK SC"/>
              </a:defRPr>
            </a:pPr>
            <a:r>
              <a:t>大模型不能随意写命令、发明工具，也不能直接判断医学正常或异常。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REQUEST SCOPES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三种范围：运行、页面展示和报告引用互不混淆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0292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481328"/>
            <a:ext cx="1572768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5044"/>
            <a:ext cx="1572768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运行范围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43560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实际计算哪些步骤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801368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B6C66"/>
                </a:solidFill>
                <a:latin typeface="Noto Sans CJK SC"/>
              </a:defRPr>
            </a:pPr>
            <a:r>
              <a:t>决定计算资源和必须补齐的前置步骤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50292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715768"/>
            <a:ext cx="1572768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729484"/>
            <a:ext cx="1572768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展示范围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67004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页面展示哪些步骤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035808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B6C66"/>
                </a:solidFill>
                <a:latin typeface="Noto Sans CJK SC"/>
              </a:defRPr>
            </a:pPr>
            <a:r>
              <a:t>只改变页面，不会删除证据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50292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3950208"/>
            <a:ext cx="1572768" cy="310896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963924"/>
            <a:ext cx="1572768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F7E1F"/>
                </a:solidFill>
                <a:latin typeface="Noto Sans CJK SC"/>
              </a:defRPr>
            </a:pPr>
            <a:r>
              <a:t>报告范围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90448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报告引用哪些步骤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270248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B6C66"/>
                </a:solidFill>
                <a:latin typeface="Noto Sans CJK SC"/>
              </a:defRPr>
            </a:pPr>
            <a:r>
              <a:t>留空表示使用全部已有证据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325880"/>
            <a:ext cx="544068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600200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47B6B"/>
                </a:solidFill>
                <a:latin typeface="Noto Sans CJK SC"/>
              </a:defRPr>
            </a:pPr>
            <a:r>
              <a:t>一句话如何被理解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057400"/>
            <a:ext cx="44805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1B2A26"/>
                </a:solidFill>
                <a:latin typeface="Noto Sans CJK SC"/>
              </a:defRPr>
            </a:pPr>
            <a:r>
              <a:t>“只展示 reconstruction，</a:t>
            </a:r>
            <a:br/>
            <a:r>
              <a:t>但生成完整报告”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99232"/>
            <a:ext cx="43891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3E6DA3"/>
                </a:solidFill>
                <a:latin typeface="Noto Sans CJK SC"/>
              </a:defRPr>
            </a:pPr>
            <a:r>
              <a:t>页面：只显示“重建”</a:t>
            </a:r>
            <a:br/>
            <a:r>
              <a:t>报告：仍使用全部步骤证据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31920"/>
            <a:ext cx="4389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5B6C66"/>
                </a:solidFill>
                <a:latin typeface="Noto Sans CJK SC"/>
              </a:defRPr>
            </a:pPr>
            <a:r>
              <a:t>因此隐藏页面上的某一步，不会把该步的重要问题从报告中删掉。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EVIDENCE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证据库：报告里的每句话都能找到依据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9202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81328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用户需求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5564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原话 + 整理后的需求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1764792"/>
            <a:ext cx="329184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07208" y="1371600"/>
            <a:ext cx="19202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7208" y="1371600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481328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执行计划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75564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步骤顺序 + 三种范围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45736" y="1764792"/>
            <a:ext cx="329184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1496" y="1371600"/>
            <a:ext cx="19202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11496" y="1371600"/>
            <a:ext cx="73152" cy="786384"/>
          </a:xfrm>
          <a:prstGeom prst="rect">
            <a:avLst/>
          </a:prstGeom>
          <a:solidFill>
            <a:srgbClr val="14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1481328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每步质检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175564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数值 + 标准 + 来源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0024" y="1764792"/>
            <a:ext cx="329184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15784" y="1371600"/>
            <a:ext cx="19202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15784" y="1371600"/>
            <a:ext cx="73152" cy="786384"/>
          </a:xfrm>
          <a:prstGeom prst="rect">
            <a:avLst/>
          </a:prstGeom>
          <a:solidFill>
            <a:srgbClr val="BF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6" y="1481328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报告结论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175564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结论 + 依据 + 可信程度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54312" y="1764792"/>
            <a:ext cx="329184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20072" y="1371600"/>
            <a:ext cx="19202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0072" y="1371600"/>
            <a:ext cx="73152" cy="786384"/>
          </a:xfrm>
          <a:prstGeom prst="rect">
            <a:avLst/>
          </a:prstGeom>
          <a:solidFill>
            <a:srgbClr val="BF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4664" y="1481328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使用限制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4" y="175564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不能回答什么 + 待复核项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697480"/>
            <a:ext cx="10972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2953512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47B6B"/>
                </a:solidFill>
                <a:latin typeface="Noto Sans CJK SC"/>
              </a:defRPr>
            </a:pPr>
            <a:r>
              <a:t>保存到本地的记录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401568"/>
            <a:ext cx="10058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intent_spec.json   task_plan.json   evidence_bank.json   medical_evidence.json   report.md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931920"/>
            <a:ext cx="99669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每个指标都保存数值、单位、判断标准、结果和来源文件。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每条结论都保存证据和可信程度；报告同时说明不能过度解释的部分。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大模型的分析会进入报告正文，用户不需要翻隐藏日志。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六步质量检查：每一步检查什么、结果怎么看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286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5B6C66"/>
                </a:solidFill>
                <a:latin typeface="Noto Sans CJK SC"/>
              </a:defRPr>
            </a:pPr>
            <a:r>
              <a:t>处理步骤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280160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5B6C66"/>
                </a:solidFill>
                <a:latin typeface="Noto Sans CJK SC"/>
              </a:defRPr>
            </a:pPr>
            <a:r>
              <a:t>指标数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80160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5B6C66"/>
                </a:solidFill>
                <a:latin typeface="Noto Sans CJK SC"/>
              </a:defRPr>
            </a:pPr>
            <a:r>
              <a:t>系统自动检查的内容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1280160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5B6C66"/>
                </a:solidFill>
                <a:latin typeface="Noto Sans CJK SC"/>
              </a:defRPr>
            </a:pPr>
            <a:r>
              <a:t>案例中出现过的结果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45920"/>
            <a:ext cx="11018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6479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01 脑提取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764792"/>
            <a:ext cx="960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764792"/>
            <a:ext cx="5212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掩膜是否生成 / 范围 / 切片覆盖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764792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2304288"/>
            <a:ext cx="11018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02 三维重建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423160"/>
            <a:ext cx="960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423160"/>
            <a:ext cx="5212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图像可读 / 有效体素 / 强度范围 / 大小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423160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通过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962656"/>
            <a:ext cx="11018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081528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03 图像配准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081528"/>
            <a:ext cx="960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081528"/>
            <a:ext cx="5212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Mattes / GC / 配准图像是否存在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081528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通过 / 需复核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3621024"/>
            <a:ext cx="11018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39896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04 组织分割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3739896"/>
            <a:ext cx="960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739896"/>
            <a:ext cx="5212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标签 / 前景范围 / 是否处于配准空间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739896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通过 / 未通过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4279392"/>
            <a:ext cx="11018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398264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05 脑区分区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398264"/>
            <a:ext cx="960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398264"/>
            <a:ext cx="5212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标签 / 前景范围 / 是否处于配准空间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398264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通过 / 未通过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4937759"/>
            <a:ext cx="11018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056631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06 表面生成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5056631"/>
            <a:ext cx="960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056631"/>
            <a:ext cx="5212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1B2A26"/>
                </a:solidFill>
                <a:latin typeface="Noto Sans CJK SC"/>
              </a:defRPr>
            </a:pPr>
            <a:r>
              <a:t>必要表面文件 / 统计文件是否齐全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5056631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通过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5760720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BF7E1F"/>
                </a:solidFill>
                <a:latin typeface="Noto Sans CJK SC"/>
              </a:defRPr>
            </a:pPr>
            <a:r>
              <a:t>“通过”只说明技术检查合格，不代表医学正常；配准结果仍需人工对照图像复核。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REQUEST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三种用户需求：系统不靠一个固定模板回答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29584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41732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2476"/>
            <a:ext cx="14173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A · 全流程查看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5B6C66"/>
                </a:solidFill>
                <a:latin typeface="Noto Sans CJK SC"/>
              </a:defRPr>
            </a:pPr>
            <a:r>
              <a:t>用户原话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3063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“展示完整六步、每步质量指标，</a:t>
            </a:r>
            <a:br/>
            <a:r>
              <a:t>并生成完整中文报告。”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系统理解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2971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导入已有结果 · 展示全部 · 报告全部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结果证据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93208"/>
            <a:ext cx="2971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47B6B"/>
                </a:solidFill>
                <a:latin typeface="Noto Sans CJK SC"/>
              </a:defRPr>
            </a:pPr>
            <a:r>
              <a:t>六步全部通过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234440"/>
            <a:ext cx="3529584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53712" y="1508760"/>
            <a:ext cx="1417320" cy="310896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522476"/>
            <a:ext cx="14173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F7E1F"/>
                </a:solidFill>
                <a:latin typeface="Noto Sans CJK SC"/>
              </a:defRPr>
            </a:pPr>
            <a:r>
              <a:t>B · 发现需复核项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057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5B6C66"/>
                </a:solidFill>
                <a:latin typeface="Noto Sans CJK SC"/>
              </a:defRPr>
            </a:pPr>
            <a:r>
              <a:t>用户原话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395728"/>
            <a:ext cx="3063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“展示全部步骤、质量指标和日志，</a:t>
            </a:r>
            <a:br/>
            <a:r>
              <a:t>生成完整中文研究报告。”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657600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BF7E1F"/>
                </a:solidFill>
                <a:latin typeface="Noto Sans CJK SC"/>
              </a:defRPr>
            </a:pPr>
            <a:r>
              <a:t>系统理解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977639"/>
            <a:ext cx="2971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导入已有结果 · 保留自动复核结论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754880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BF7E1F"/>
                </a:solidFill>
                <a:latin typeface="Noto Sans CJK SC"/>
              </a:defRPr>
            </a:pPr>
            <a:r>
              <a:t>结果证据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5093208"/>
            <a:ext cx="2971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BF7E1F"/>
                </a:solidFill>
                <a:latin typeface="Noto Sans CJK SC"/>
              </a:defRPr>
            </a:pPr>
            <a:r>
              <a:t>配准需要人工复核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7304" y="1234440"/>
            <a:ext cx="3529584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75904" y="1508760"/>
            <a:ext cx="141732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1522476"/>
            <a:ext cx="14173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C · 页面只看一步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2057400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5B6C66"/>
                </a:solidFill>
                <a:latin typeface="Noto Sans CJK SC"/>
              </a:defRPr>
            </a:pPr>
            <a:r>
              <a:t>用户原话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395728"/>
            <a:ext cx="3063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“只展示 reconstruction，</a:t>
            </a:r>
            <a:br/>
            <a:r>
              <a:t>但用全部证据生成完整报告。”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657600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3E6DA3"/>
                </a:solidFill>
                <a:latin typeface="Noto Sans CJK SC"/>
              </a:defRPr>
            </a:pPr>
            <a:r>
              <a:t>系统理解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977639"/>
            <a:ext cx="2971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B2A26"/>
                </a:solidFill>
                <a:latin typeface="Noto Sans CJK SC"/>
              </a:defRPr>
            </a:pPr>
            <a:r>
              <a:t>页面只看重建 · 报告仍检查六步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754880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3E6DA3"/>
                </a:solidFill>
                <a:latin typeface="Noto Sans CJK SC"/>
              </a:defRPr>
            </a:pPr>
            <a:r>
              <a:t>结果证据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5093208"/>
            <a:ext cx="2971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E6DA3"/>
                </a:solidFill>
                <a:latin typeface="Noto Sans CJK SC"/>
              </a:defRPr>
            </a:pPr>
            <a:r>
              <a:t>发现组织和脑区空间问题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47B6B"/>
                </a:solidFill>
                <a:latin typeface="Noto Sans CJK SC"/>
              </a:defRPr>
            </a:pPr>
            <a:r>
              <a:t>多样性来自用户目标和范围不同；正确性由计划、质量指标、来源文件和最终报告共同证明。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COMPLETE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案例 A · AnHuiJing：完整查看和完整报告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11018520" cy="749808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用户输入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80160"/>
            <a:ext cx="9555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“导入 AnHuiJing 现有结果，展示完整六步可视化和每一步质量指标，基于证据库生成完整中文专业研究报告。”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6812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anhuijing_us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04" y="2057400"/>
            <a:ext cx="4340352" cy="4069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2057400"/>
            <a:ext cx="3977639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2331720"/>
            <a:ext cx="114300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345436"/>
            <a:ext cx="11430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处理正确性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78892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1B2A26"/>
                </a:solidFill>
                <a:latin typeface="Noto Sans CJK SC"/>
              </a:defRPr>
            </a:pPr>
            <a:r>
              <a:t>系统没有省略步骤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246120"/>
            <a:ext cx="31089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理解为：导入已有结果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页面：展示全部六步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报告：使用全部六步证据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实际结果：六步质量检查均通过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配准 Mattes −0.33959，GC −0.546999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53212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47B6B"/>
                </a:solidFill>
                <a:latin typeface="Noto Sans CJK SC"/>
              </a:defRPr>
            </a:pPr>
            <a:r>
              <a:t>需求、计划、证据库和报告范围一致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INTERACTIVE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案例 A · 用户继续逐张查看脑提取结果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7498079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anhuijing_extraction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2188"/>
            <a:ext cx="7498079" cy="50879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143000"/>
            <a:ext cx="32461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481328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147B6B"/>
                </a:solidFill>
                <a:latin typeface="Noto Sans CJK SC"/>
              </a:defRPr>
            </a:pPr>
            <a:r>
              <a:t>用户可以做什么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65960"/>
            <a:ext cx="256032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同时查看原始 MRI 和脑掩膜</a:t>
            </a:r>
          </a:p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用滚轮或滑条逐张浏览</a:t>
            </a:r>
          </a:p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点击播放前先加载当前序列</a:t>
            </a:r>
          </a:p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以稳定速度逐张播放</a:t>
            </a:r>
          </a:p>
          <a:p>
            <a:pPr>
              <a:spcAft>
                <a:spcPts val="800"/>
              </a:spcAft>
              <a:defRPr sz="1400">
                <a:solidFill>
                  <a:srgbClr val="1B2A26"/>
                </a:solidFill>
                <a:latin typeface="Noto Sans CJK SC"/>
              </a:defRPr>
            </a:pPr>
            <a:r>
              <a:t>•  页面刷新状态时不会重置图像窗口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709160"/>
            <a:ext cx="251460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质量指标不是孤立分数：用户可以回到对应图像逐张确认。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REVIEW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案例 B · CaoLi：程序跑完，不代表质量一定通过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11018520" cy="749808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BF7E1F"/>
                </a:solidFill>
                <a:latin typeface="Noto Sans CJK SC"/>
              </a:defRPr>
            </a:pPr>
            <a:r>
              <a:t>用户输入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80160"/>
            <a:ext cx="9555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“导入 CaoLi 配准空间结果，展示全部步骤、质量指标和日志，并生成完整中文研究报告。”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6812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caoli_registration_m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10" y="2057400"/>
            <a:ext cx="5996538" cy="4069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2057400"/>
            <a:ext cx="3977639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2331720"/>
            <a:ext cx="1143000" cy="310896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345436"/>
            <a:ext cx="11430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F7E1F"/>
                </a:solidFill>
                <a:latin typeface="Noto Sans CJK SC"/>
              </a:defRPr>
            </a:pPr>
            <a:r>
              <a:t>处理正确性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78892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1B2A26"/>
                </a:solidFill>
                <a:latin typeface="Noto Sans CJK SC"/>
              </a:defRPr>
            </a:pPr>
            <a:r>
              <a:t>系统保留了“需要复核”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246120"/>
            <a:ext cx="31089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理解为：导入并展示全部结果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程序状态：已完成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配准质量：需要人工复核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其余五步：技术检查通过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报告要求查看三方向配准对照图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532120"/>
            <a:ext cx="3063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BF7E1F"/>
                </a:solidFill>
                <a:latin typeface="Noto Sans CJK SC"/>
              </a:defRPr>
            </a:pPr>
            <a:r>
              <a:t>没有把“有结果文件”误写成“配准可靠”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DISPLAY VS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案例 C · BaiHuPing：只看一步，报告仍查全部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11018520" cy="74980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3E6DA3"/>
                </a:solidFill>
                <a:latin typeface="Noto Sans CJK SC"/>
              </a:defRPr>
            </a:pPr>
            <a:r>
              <a:t>用户输入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80160"/>
            <a:ext cx="9555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“只展示 reconstruction，但用全部可用证据生成完整中文报告，并明确列出需要复核的质量问题。”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6812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baihu_scope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04" y="2057400"/>
            <a:ext cx="4340352" cy="4069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2057400"/>
            <a:ext cx="3977639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2331720"/>
            <a:ext cx="114300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345436"/>
            <a:ext cx="11430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处理正确性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788920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1B2A26"/>
                </a:solidFill>
                <a:latin typeface="Noto Sans CJK SC"/>
              </a:defRPr>
            </a:pPr>
            <a:r>
              <a:t>系统正确分开两种范围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246120"/>
            <a:ext cx="31089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页面：只显示三维重建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报告：仍检查全部六步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组织分割：空间不一致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脑区分区：空间不一致</a:t>
            </a:r>
          </a:p>
          <a:p>
            <a:pPr>
              <a:spcAft>
                <a:spcPts val="800"/>
              </a:spcAft>
              <a:defRPr sz="1300">
                <a:solidFill>
                  <a:srgbClr val="1B2A26"/>
                </a:solidFill>
                <a:latin typeface="Noto Sans CJK SC"/>
              </a:defRPr>
            </a:pPr>
            <a:r>
              <a:t>•  最终报告明确列出两个问题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532120"/>
            <a:ext cx="3063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3E6DA3"/>
                </a:solidFill>
                <a:latin typeface="Noto Sans CJK SC"/>
              </a:defRPr>
            </a:pPr>
            <a:r>
              <a:t>用户少看页面，不会导致系统少检查证据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CURRENT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系统现在能做什么，下一步还需要什么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57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480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147B6B"/>
                </a:solidFill>
                <a:latin typeface="Noto Sans CJK SC"/>
              </a:defRPr>
            </a:pPr>
            <a:r>
              <a:t>目前已经做到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44805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理解自然语言并安全安排任务</a:t>
            </a:r>
          </a:p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逐步质量检查、看图和实时日志</a:t>
            </a:r>
          </a:p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证据库与专业研究报告</a:t>
            </a:r>
          </a:p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重要问题不会因页面隐藏而漏报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257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480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BF7E1F"/>
                </a:solidFill>
                <a:latin typeface="Noto Sans CJK SC"/>
              </a:defRPr>
            </a:pPr>
            <a:r>
              <a:t>临床转化仍需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12848"/>
            <a:ext cx="44805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版本化解剖标签映射</a:t>
            </a:r>
          </a:p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孕周常模与百分位曲线</a:t>
            </a:r>
          </a:p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专家视觉 QC 评分规范</a:t>
            </a:r>
          </a:p>
          <a:p>
            <a:pPr>
              <a:spcAft>
                <a:spcPts val="800"/>
              </a:spcAft>
              <a:defRPr sz="1600">
                <a:solidFill>
                  <a:srgbClr val="1B2A26"/>
                </a:solidFill>
                <a:latin typeface="Noto Sans CJK SC"/>
              </a:defRPr>
            </a:pPr>
            <a:r>
              <a:t>•  独立验证、审计与签署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5715000"/>
            <a:ext cx="9829800" cy="530352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833872"/>
            <a:ext cx="9464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147B6B"/>
                </a:solidFill>
                <a:latin typeface="Noto Sans CJK SC"/>
              </a:defRPr>
            </a:pPr>
            <a:r>
              <a:t>结论：系统已可用于受控研究编排与证据审阅；临床诊断能力仍需独立医学验证。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